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A1A"/>
                </a:solidFill>
                <a:latin typeface="Calibri"/>
              </a:defRPr>
            </a:pPr>
            <a:r>
              <a:t>INSTITUTIONAL PAPER TRADING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7F8FB"/>
                </a:solidFill>
                <a:latin typeface="Calibri"/>
              </a:defRPr>
            </a:pPr>
            <a:r>
              <a:t>APEX Autopilot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AAB5CA"/>
                </a:solidFill>
                <a:latin typeface="Calibri"/>
              </a:defRPr>
            </a:pPr>
            <a:r>
              <a:t>Autonomous prediction-market intelligence and execution for Kalshi + Polymarket with risk gates, operator controls, and full auditability.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7F8FB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Live arb opportunities surfaced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65760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7F8FB"/>
                </a:solidFill>
                <a:latin typeface="Calibri"/>
              </a:defRPr>
            </a:pPr>
            <a:r>
              <a:t>L0–L4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343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Layered architecture in production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65760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7F8FB"/>
                </a:solidFill>
                <a:latin typeface="Calibri"/>
              </a:defRPr>
            </a:pPr>
            <a:r>
              <a:t>260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343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Execution runbook with milestones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A1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7F8FB"/>
                </a:solidFill>
                <a:latin typeface="Calibri"/>
              </a:defRPr>
            </a:pPr>
            <a:r>
              <a:t>Human traders miss speed, context, and discipline.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AB5CA"/>
                </a:solidFill>
                <a:latin typeface="Calibri"/>
              </a:defRPr>
            </a:pPr>
            <a:r>
              <a:t>Fragmented data — Kalshi, Polymarket, macro feeds, and settlement sources are slow to reconcile.</a:t>
            </a:r>
          </a:p>
          <a:p>
            <a:pPr>
              <a:spcAft>
                <a:spcPts val="800"/>
              </a:spcAft>
              <a:defRPr sz="1700">
                <a:solidFill>
                  <a:srgbClr val="AAB5CA"/>
                </a:solidFill>
                <a:latin typeface="Calibri"/>
              </a:defRPr>
            </a:pPr>
            <a:r>
              <a:t>Execution lag — arbitrage windows collapse in seconds while manual workflows still evaluate assumptions.</a:t>
            </a:r>
          </a:p>
          <a:p>
            <a:pPr>
              <a:spcAft>
                <a:spcPts val="800"/>
              </a:spcAft>
              <a:defRPr sz="1700">
                <a:solidFill>
                  <a:srgbClr val="AAB5CA"/>
                </a:solidFill>
                <a:latin typeface="Calibri"/>
              </a:defRPr>
            </a:pPr>
            <a:r>
              <a:t>Inconsistent risk — without deterministic gating, teams drift from policy and forensics weaken.</a:t>
            </a:r>
          </a:p>
          <a:p>
            <a:pPr>
              <a:spcAft>
                <a:spcPts val="800"/>
              </a:spcAft>
              <a:defRPr sz="1700">
                <a:solidFill>
                  <a:srgbClr val="AAB5CA"/>
                </a:solidFill>
                <a:latin typeface="Calibri"/>
              </a:defRPr>
            </a:pPr>
            <a:r>
              <a:t>Result: alpha decay, avoidable risk, and poor reproducibility.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A1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7F8FB"/>
                </a:solidFill>
                <a:latin typeface="Calibri"/>
              </a:defRPr>
            </a:pPr>
            <a:r>
              <a:t>A controlled autonomous trading engine, not a black-box 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D9DFF"/>
                </a:solidFill>
                <a:latin typeface="Calibri"/>
              </a:defRPr>
            </a:pPr>
            <a:r>
              <a:t>L0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2286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5CA"/>
                </a:solidFill>
                <a:latin typeface="Calibri"/>
              </a:defRPr>
            </a:pPr>
            <a:r>
              <a:t>Market + external intelligence with retries, health checks, cache hydration.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D9DFF"/>
                </a:solidFill>
                <a:latin typeface="Calibri"/>
              </a:defRPr>
            </a:pPr>
            <a:r>
              <a:t>L1 Finance 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97480"/>
            <a:ext cx="2286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5CA"/>
                </a:solidFill>
                <a:latin typeface="Calibri"/>
              </a:defRPr>
            </a:pPr>
            <a:r>
              <a:t>Scoring, spread modeling, confidence calibration, signal composition.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D9DFF"/>
                </a:solidFill>
                <a:latin typeface="Calibri"/>
              </a:defRPr>
            </a:pPr>
            <a:r>
              <a:t>L2 Agent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697480"/>
            <a:ext cx="2286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5CA"/>
                </a:solidFill>
                <a:latin typeface="Calibri"/>
              </a:defRPr>
            </a:pPr>
            <a:r>
              <a:t>Multi-agent thesis and intelligence verdicts (BUY / SKIP / WAIT).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D9DFF"/>
                </a:solidFill>
                <a:latin typeface="Calibri"/>
              </a:defRPr>
            </a:pPr>
            <a:r>
              <a:t>L3 / L4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97480"/>
            <a:ext cx="2286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5CA"/>
                </a:solidFill>
                <a:latin typeface="Calibri"/>
              </a:defRPr>
            </a:pPr>
            <a:r>
              <a:t>Risk-checked execution + full telemetry and operator audit stream.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A1A"/>
                </a:solidFill>
                <a:latin typeface="Calibri"/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7F8FB"/>
                </a:solidFill>
                <a:latin typeface="Calibri"/>
              </a:defRPr>
            </a:pPr>
            <a:r>
              <a:t>Bloomberg-style terminal for autonomous decision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7F8FB"/>
                </a:solidFill>
                <a:latin typeface="Calibri"/>
              </a:defRPr>
            </a:pPr>
            <a:r>
              <a:t>Arb 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Ranked opportunities with net edge, confidence, settlement alignment.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7F8FB"/>
                </a:solidFill>
                <a:latin typeface="Calibri"/>
              </a:defRPr>
            </a:pPr>
            <a:r>
              <a:t>Autopilot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4688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Live proposals, execution lifecycle, synchronized backend status.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7F8FB"/>
                </a:solidFill>
                <a:latin typeface="Calibri"/>
              </a:defRPr>
            </a:pPr>
            <a:r>
              <a:t>Intelligence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Bright Data source checks, news risk, consensus overlays.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1148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7F8FB"/>
                </a:solidFill>
                <a:latin typeface="Calibri"/>
              </a:defRPr>
            </a:pPr>
            <a:r>
              <a:t>Operator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Paper-only enforcement, token-gated actions, deterministic fallbacks.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A1A"/>
                </a:solidFill>
                <a:latin typeface="Calibri"/>
              </a:defRPr>
            </a:pPr>
            <a:r>
              <a:t>EXECUTION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8FB"/>
                </a:solidFill>
                <a:latin typeface="Calibri"/>
              </a:defRPr>
            </a:pPr>
            <a:r>
              <a:t>Running with real-time data pathways and strict safety defaults.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F8FB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9659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F8FB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9659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F8FB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9659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F8FB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  <a:latin typeface="Calibri"/>
              </a:defRPr>
            </a:pPr>
            <a:r>
              <a:t>Arb opportunity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E6A7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3774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  <a:latin typeface="Calibri"/>
              </a:defRPr>
            </a:pPr>
            <a:r>
              <a:t>100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5CA"/>
                </a:solidFill>
                <a:latin typeface="Calibri"/>
              </a:defRPr>
            </a:pPr>
            <a:r>
              <a:t>/api/arb/opportunities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  <a:latin typeface="Calibri"/>
              </a:defRPr>
            </a:pPr>
            <a:r>
              <a:t>Proposal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803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E6A7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803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  <a:latin typeface="Calibri"/>
              </a:defRPr>
            </a:pPr>
            <a:r>
              <a:t>18+ proposals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8803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5CA"/>
                </a:solidFill>
                <a:latin typeface="Calibri"/>
              </a:defRPr>
            </a:pPr>
            <a:r>
              <a:t>/proposals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  <a:latin typeface="Calibri"/>
              </a:defRPr>
            </a:pPr>
            <a:r>
              <a:t>Risk gates (paper 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E6A7"/>
                </a:solidFill>
                <a:latin typeface="Calibri"/>
              </a:defRPr>
            </a:pPr>
            <a:r>
              <a:t>Enforced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3832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  <a:latin typeface="Calibri"/>
              </a:defRPr>
            </a:pPr>
            <a:r>
              <a:t>M01-first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3832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5CA"/>
                </a:solidFill>
                <a:latin typeface="Calibri"/>
              </a:defRPr>
            </a:pPr>
            <a:r>
              <a:t>Risk check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  <a:latin typeface="Calibri"/>
              </a:defRPr>
            </a:pPr>
            <a:r>
              <a:t>Frontend 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8862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E6A7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886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  <a:latin typeface="Calibri"/>
              </a:defRPr>
            </a:pPr>
            <a:r>
              <a:t>Dashboard 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8862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5CA"/>
                </a:solidFill>
                <a:latin typeface="Calibri"/>
              </a:defRPr>
            </a:pPr>
            <a:r>
              <a:t>Playwright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  <a:latin typeface="Calibri"/>
              </a:defRPr>
            </a:pPr>
            <a:r>
              <a:t>Bright Data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3891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E6A7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3891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  <a:latin typeface="Calibri"/>
              </a:defRPr>
            </a:pPr>
            <a:r>
              <a:t>Verdict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3891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5CA"/>
                </a:solidFill>
                <a:latin typeface="Calibri"/>
              </a:defRPr>
            </a:pPr>
            <a:r>
              <a:t>Agent + cron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A1A"/>
                </a:solidFill>
                <a:latin typeface="Calibri"/>
              </a:defRPr>
            </a:pPr>
            <a: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7F8FB"/>
                </a:solidFill>
                <a:latin typeface="Calibri"/>
              </a:defRPr>
            </a:pPr>
            <a:r>
              <a:t>Compound moat from architecture, controls, and learning loops.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8FB"/>
                </a:solidFill>
                <a:latin typeface="Calibri"/>
              </a:defRPr>
            </a:pPr>
            <a:r>
              <a:t>Safety-first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Paper-only defaults and explicit gate ordering prevent accidental live exposure.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8FB"/>
                </a:solidFill>
                <a:latin typeface="Calibri"/>
              </a:defRPr>
            </a:pPr>
            <a:r>
              <a:t>Cross-market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42316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Market microstructure plus verified external signals in one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8FB"/>
                </a:solidFill>
                <a:latin typeface="Calibri"/>
              </a:defRPr>
            </a:pPr>
            <a:r>
              <a:t>Operator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79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Transparent logs, deterministic fallbacks, visible rationale per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1148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8FB"/>
                </a:solidFill>
                <a:latin typeface="Calibri"/>
              </a:defRPr>
            </a:pPr>
            <a:r>
              <a:t>Data flywheel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26279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Historical calibration and model scoring improve quality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A1A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8FB"/>
                </a:solidFill>
                <a:latin typeface="Calibri"/>
              </a:defRPr>
            </a:pPr>
            <a:r>
              <a:t>260-day plan from robust paper alpha to production-ready autonomy.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D9D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286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5CA"/>
                </a:solidFill>
                <a:latin typeface="Calibri"/>
              </a:defRPr>
            </a:pPr>
            <a:r>
              <a:t>Reliability + CI hardening, unified startup, regression prevention.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031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D9D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60320"/>
            <a:ext cx="2286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5CA"/>
                </a:solidFill>
                <a:latin typeface="Calibri"/>
              </a:defRPr>
            </a:pPr>
            <a:r>
              <a:t>Observability, operator workflows, decision explainability.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031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D9D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560320"/>
            <a:ext cx="2286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5CA"/>
                </a:solidFill>
                <a:latin typeface="Calibri"/>
              </a:defRPr>
            </a:pPr>
            <a:r>
              <a:t>Signal quality, settlement precision, stricter risk calibration.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D9DFF"/>
                </a:solidFill>
                <a:latin typeface="Calibri"/>
              </a:defRPr>
            </a:pPr>
            <a:r>
              <a:t>Phase 4–5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2286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5CA"/>
                </a:solidFill>
                <a:latin typeface="Calibri"/>
              </a:defRPr>
            </a:pPr>
            <a:r>
              <a:t>Scale architecture, auth, deployment hardening, staged autonomy.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5CA"/>
                </a:solidFill>
                <a:latin typeface="Calibri"/>
              </a:defRPr>
            </a:pPr>
            <a:r>
              <a:t>Themes: WC2026 brain · cron architecture · scheduled agents · trading upgrades · calibration seed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A1A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8FB"/>
                </a:solidFill>
                <a:latin typeface="Calibri"/>
              </a:defRPr>
            </a:pPr>
            <a:r>
              <a:t>From high-value operator tooling to fund-grade platform economics.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8FB"/>
                </a:solidFill>
                <a:latin typeface="Calibri"/>
              </a:defRPr>
            </a:pPr>
            <a:r>
              <a:t>Tier 1: Pro 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Subscription for autonomous radar, intelligence overlays, simulation analytics.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8FB"/>
                </a:solidFill>
                <a:latin typeface="Calibri"/>
              </a:defRPr>
            </a:pPr>
            <a:r>
              <a:t>Tier 2: Team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42316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Collaboration, policy controls, audit exports, strategy workspaces.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8FB"/>
                </a:solidFill>
                <a:latin typeface="Calibri"/>
              </a:defRPr>
            </a:pPr>
            <a:r>
              <a:t>Tier 3: Institutional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79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Dedicated deployments, custom integrations, risk policy frameworks.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1148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8FB"/>
                </a:solidFill>
                <a:latin typeface="Calibri"/>
              </a:defRPr>
            </a:pPr>
            <a:r>
              <a:t>Long-term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26279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Performance-linked products after live capital and compliance tracks.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A1A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8FB"/>
                </a:solidFill>
                <a:latin typeface="Calibri"/>
              </a:defRPr>
            </a:pPr>
            <a:r>
              <a:t>Partner with us to accelerate from strong engine to category-defining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7F8FB"/>
                </a:solidFill>
                <a:latin typeface="Calibri"/>
              </a:defRPr>
            </a:pPr>
            <a:r>
              <a:t>$X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12-month build + GTM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2860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7F8FB"/>
                </a:solidFill>
                <a:latin typeface="Calibri"/>
              </a:defRPr>
            </a:pPr>
            <a:r>
              <a:t>3 hires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71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Infra · quant · product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2860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7F8FB"/>
                </a:solidFill>
                <a:latin typeface="Calibri"/>
              </a:defRPr>
            </a:pPr>
            <a:r>
              <a:t>2 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971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  <a:latin typeface="Calibri"/>
              </a:defRPr>
            </a:pPr>
            <a:r>
              <a:t>Institutional design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AAB5CA"/>
                </a:solidFill>
                <a:latin typeface="Calibri"/>
              </a:defRPr>
            </a:pPr>
            <a:r>
              <a:t>Use of funds: reliability and compliance infrastructure, alpha refinement, scalable hosted deployments.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A1A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7F8FB"/>
                </a:solidFill>
                <a:latin typeface="Calibri"/>
              </a:defRPr>
            </a:pPr>
            <a:r>
              <a:t>Autonomy with discipline wins this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AAB5CA"/>
                </a:solidFill>
                <a:latin typeface="Calibri"/>
              </a:defRPr>
            </a:pPr>
            <a:r>
              <a:t>APEX Autopilot is building the operating system for intelligent prediction-market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7F8FB"/>
                </a:solidFill>
                <a:latin typeface="Calibri"/>
              </a:defRPr>
            </a:pPr>
            <a:r>
              <a:t>Team Autopilot — ready for product demo, technical diligence, and pilot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